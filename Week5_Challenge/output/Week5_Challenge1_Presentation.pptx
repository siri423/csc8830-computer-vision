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f6c9640f894df4" /><Relationship Type="http://schemas.openxmlformats.org/officeDocument/2006/relationships/extended-properties" Target="/docProps/app.xml" Id="R7bb0a5c39f6f4d7b" /><Relationship Type="http://schemas.openxmlformats.org/officeDocument/2006/relationships/officeDocument" Target="/ppt/presentation.xml" Id="R525ea6afdf26463f" /></Relationships>
</file>

<file path=ppt/presentation.xml><?xml version="1.0" encoding="utf-8"?>
<p:presentation xmlns:p="http://schemas.openxmlformats.org/presentationml/2006/main">
  <p:sldMasterIdLst>
    <p:sldMasterId xmlns:r="http://schemas.openxmlformats.org/officeDocument/2006/relationships" id="2147483648" r:id="Re30e5bc9377a4939"/>
  </p:sldMasterIdLst>
  <p:notesMasterIdLst>
    <p:notesMasterId xmlns:r="http://schemas.openxmlformats.org/officeDocument/2006/relationships" r:id="Rb7e80f6b7e9d442c"/>
  </p:notesMasterIdLst>
  <p:sldIdLst>
    <p:sldId xmlns:r="http://schemas.openxmlformats.org/officeDocument/2006/relationships" id="256" r:id="R6d0a65db642c454b"/>
    <p:sldId xmlns:r="http://schemas.openxmlformats.org/officeDocument/2006/relationships" id="257" r:id="Rf740ac22d50942ac"/>
    <p:sldId xmlns:r="http://schemas.openxmlformats.org/officeDocument/2006/relationships" id="258" r:id="R28af774dca6347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5d3df707ae4cdc" /><Relationship Type="http://schemas.openxmlformats.org/officeDocument/2006/relationships/slideMaster" Target="/ppt/slideMasters/slideMaster1.xml" Id="Re30e5bc9377a4939" /><Relationship Type="http://schemas.openxmlformats.org/officeDocument/2006/relationships/notesMaster" Target="/ppt/notesMasters/notesMaster1.xml" Id="Rb7e80f6b7e9d442c" /><Relationship Type="http://schemas.openxmlformats.org/officeDocument/2006/relationships/presProps" Target="/ppt/presProps.xml" Id="R9058cb468a1440c3" /><Relationship Type="http://schemas.openxmlformats.org/officeDocument/2006/relationships/tableStyles" Target="/ppt/tableStyles.xml" Id="R544b544aef794df2" /><Relationship Type="http://schemas.openxmlformats.org/officeDocument/2006/relationships/slide" Target="/ppt/slides/slide1.xml" Id="R6d0a65db642c454b" /><Relationship Type="http://schemas.openxmlformats.org/officeDocument/2006/relationships/slide" Target="/ppt/slides/slide2.xml" Id="Rf740ac22d50942ac" /><Relationship Type="http://schemas.openxmlformats.org/officeDocument/2006/relationships/slide" Target="/ppt/slides/slide3.xml" Id="R28af774dca63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fe34c42ce546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4de06f297b46b9" /><Relationship Type="http://schemas.openxmlformats.org/officeDocument/2006/relationships/notesMaster" Target="/ppt/notesMasters/notesMaster1.xml" Id="R6c510a3abd914b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ec62d03c7f4ba9" /><Relationship Type="http://schemas.openxmlformats.org/officeDocument/2006/relationships/notesMaster" Target="/ppt/notesMasters/notesMaster1.xml" Id="R95cb087f33fe4e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39a1474a694c42" /><Relationship Type="http://schemas.openxmlformats.org/officeDocument/2006/relationships/notesMaster" Target="/ppt/notesMasters/notesMaster1.xml" Id="R470f26e1eee048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“Reviewing a clip for one person can take several passes. First, someone has to find the person. Then they have to locate the moment they need. Small or partly hidden people make that search harder. The problem statement is: can a video language model identify an approximate time range when a person is visible and give a reviewer enough evidence to check the moment?”</a:t>
            </a:r>
          </a:p>
          <a:p xmlns:a="http://schemas.openxmlformats.org/drawingml/2006/main">
            <a:r>
              <a:t/>
            </a:r>
          </a:p>
          <a:p xmlns:a="http://schemas.openxmlformats.org/drawingml/2006/main">
            <a:r>
              <a:t>The comparison image is a thermal person-segmentation example from the previous course assignment; it provides context for the problem. Keynote 6 is Fahad Khan’s “Towards Detailed Video Understanding in Generative AI Era.” Add one specific takeaway from watching the keynote in class before presenting. Sources: https://www.crcv.ucf.edu/cvpr2025-vidllms-workshop/program.html and https://www.crcv.ucf.edu/cvpr2025-vidllms-workshop/speakers.html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“Keynote 6 by Fahad Khan is titled ‘Towards Detailed Video Understanding in Generative AI Era.’ The workshop description focuses on detailed visual understanding and grounding video content from text queries. This prototype tests a narrower question: when is a person visible? The selected model is Gemini 3.8 Flash, which accepts video through its API. Gemini is the model choice for this prototype; the talk provides the inspiration. The app returns a time range and a short explanation for a person to review.”</a:t>
            </a:r>
          </a:p>
          <a:p xmlns:a="http://schemas.openxmlformats.org/drawingml/2006/main">
            <a:r>
              <a:t/>
            </a:r>
          </a:p>
          <a:p xmlns:a="http://schemas.openxmlformats.org/drawingml/2006/main">
            <a:r>
              <a:t>Sources: https://www.crcv.ucf.edu/cvpr2025-vidllms-workshop/speakers.html and https://ai.google.dev/gemini-api/docs/video-understanding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prototype is deployed as a Streamlit app. A user uploads a short clip, enters a question, and receives Gemini’s proposed time range and description. To check feasibility, compare the start and end times with an interval marked by watching the same clip. Record the difference in seconds and check whether the person and action match. I’ll show one example in the app now.”</a:t>
            </a:r>
          </a:p>
          <a:p xmlns:a="http://schemas.openxmlformats.org/drawingml/2006/main">
            <a:r>
              <a:t/>
            </a:r>
          </a:p>
          <a:p xmlns:a="http://schemas.openxmlformats.org/drawingml/2006/main">
            <a:r>
              <a:t>DEMO: Select a clip under 20 MB, confirm permission to send it to Google, and choose Analyze video. After the answer appears, replace the bracketed values in the accompanying script with the actual timestamps and a brief comparison to the manual review. Do not infer general accuracy from one clip. Sources: https://ai.google.dev/gemini-api/docs/video-understanding and https://ai.google.dev/gemini-api/docs/pricing.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cf871aaee14f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97bc168e4d4078" /><Relationship Type="http://schemas.openxmlformats.org/officeDocument/2006/relationships/slideLayout" Target="/ppt/slideLayouts/slideLayout1.xml" Id="R5c6d46b9891246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6d46b9891246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ec04e5737442ed" /><Relationship Type="http://schemas.openxmlformats.org/officeDocument/2006/relationships/image" Target="/ppt/media/image.png" Id="R8cbe5b52b42644ae" /><Relationship Type="http://schemas.openxmlformats.org/officeDocument/2006/relationships/notesSlide" Target="/ppt/notesSlides/notesSlide1.xml" Id="R8970ae830c9947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c6a2d80c544534" /><Relationship Type="http://schemas.openxmlformats.org/officeDocument/2006/relationships/notesSlide" Target="/ppt/notesSlides/notesSlide2.xml" Id="R2a71d8f1de4b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97241d8a754280" /><Relationship Type="http://schemas.openxmlformats.org/officeDocument/2006/relationships/notesSlide" Target="/ppt/notesSlides/notesSlide3.xml" Id="R2676c9e1368d40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29F314-A9EA-47BB-9B27-316F40C29131}"/>
              </a:ext>
            </a:extLst>
          </p:cNvPr>
          <p:cNvSpPr>
            <a:spLocks xmlns:a="http://schemas.openxmlformats.org/drawingml/2006/main" noGrp="1"/>
          </p:cNvSpPr>
          <p:nvPr/>
        </p:nvSpPr>
        <p:spPr>
          <a:xfrm xmlns:a="http://schemas.openxmlformats.org/drawingml/2006/main">
            <a:off x="647700" y="4000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Finding a person across a video</a:t>
            </a:r>
          </a:p>
        </p:txBody>
      </p:sp>
      <p:sp>
        <p:nvSpPr>
          <p:cNvPr id="2" name="">
            <a:extLst xmlns:a="http://schemas.openxmlformats.org/drawingml/2006/main">
              <a:ext uri="{FF2B5EF4-FFF2-40B4-BE49-F238E27FC236}">
                <a16:creationId xmlns:a16="http://schemas.microsoft.com/office/drawing/2014/main" id="{004D96BC-875E-48EA-8B1A-DE4CFC7C932D}"/>
              </a:ext>
            </a:extLst>
          </p:cNvPr>
          <p:cNvSpPr>
            <a:spLocks xmlns:a="http://schemas.openxmlformats.org/drawingml/2006/main" noGrp="1"/>
          </p:cNvSpPr>
          <p:nvPr/>
        </p:nvSpPr>
        <p:spPr>
          <a:xfrm xmlns:a="http://schemas.openxmlformats.org/drawingml/2006/main">
            <a:off x="666750" y="1057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774"/>
                </a:solidFill>
                <a:latin typeface="Helvetica Neue"/>
                <a:ea typeface="Helvetica Neue"/>
                <a:cs typeface="Helvetica Neue"/>
              </a:defRPr>
            </a:pPr>
            <a:r>
              <a:rPr sz="1575" b="0">
                <a:solidFill>
                  <a:srgbClr val="546774"/>
                </a:solidFill>
                <a:latin typeface="Helvetica Neue"/>
                <a:ea typeface="Helvetica Neue"/>
                <a:cs typeface="Helvetica Neue"/>
              </a:rPr>
              <a:t>Week 5 Challenge 1  |  Inspired by Keynote 6</a:t>
            </a:r>
          </a:p>
        </p:txBody>
      </p:sp>
      <p:sp>
        <p:nvSpPr>
          <p:cNvPr id="3" name="">
            <a:extLst xmlns:a="http://schemas.openxmlformats.org/drawingml/2006/main">
              <a:ext uri="{FF2B5EF4-FFF2-40B4-BE49-F238E27FC236}">
                <a16:creationId xmlns:a16="http://schemas.microsoft.com/office/drawing/2014/main" id="{C3B06A86-D04F-4906-BC62-9792C90B6346}"/>
              </a:ext>
            </a:extLst>
          </p:cNvPr>
          <p:cNvSpPr>
            <a:spLocks xmlns:a="http://schemas.openxmlformats.org/drawingml/2006/main" noGrp="1"/>
          </p:cNvSpPr>
          <p:nvPr/>
        </p:nvSpPr>
        <p:spPr>
          <a:xfrm xmlns:a="http://schemas.openxmlformats.org/drawingml/2006/main">
            <a:off x="685800" y="18669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The problem</a:t>
            </a:r>
          </a:p>
        </p:txBody>
      </p:sp>
      <p:sp>
        <p:nvSpPr>
          <p:cNvPr id="4" name="">
            <a:extLst xmlns:a="http://schemas.openxmlformats.org/drawingml/2006/main">
              <a:ext uri="{FF2B5EF4-FFF2-40B4-BE49-F238E27FC236}">
                <a16:creationId xmlns:a16="http://schemas.microsoft.com/office/drawing/2014/main" id="{158A8832-2C16-49DB-BD22-762979431708}"/>
              </a:ext>
            </a:extLst>
          </p:cNvPr>
          <p:cNvSpPr>
            <a:spLocks xmlns:a="http://schemas.openxmlformats.org/drawingml/2006/main" noGrp="1"/>
          </p:cNvSpPr>
          <p:nvPr/>
        </p:nvSpPr>
        <p:spPr>
          <a:xfrm xmlns:a="http://schemas.openxmlformats.org/drawingml/2006/main">
            <a:off x="685800" y="2247900"/>
            <a:ext cx="4362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72"/>
          </a:bodyPr>
          <a:lstStyle xmlns:a="http://schemas.openxmlformats.org/drawingml/2006/main"/>
          <a:p xmlns:a="http://schemas.openxmlformats.org/drawingml/2006/main">
            <a:pPr algn="l">
              <a:defRPr sz="2250" b="1">
                <a:solidFill>
                  <a:srgbClr val="142735"/>
                </a:solidFill>
                <a:latin typeface="Helvetica Neue"/>
                <a:ea typeface="Helvetica Neue"/>
                <a:cs typeface="Helvetica Neue"/>
              </a:defRPr>
            </a:pPr>
            <a:r>
              <a:rPr sz="2250" b="1">
                <a:solidFill>
                  <a:srgbClr val="142735"/>
                </a:solidFill>
                <a:latin typeface="Helvetica Neue"/>
                <a:ea typeface="Helvetica Neue"/>
                <a:cs typeface="Helvetica Neue"/>
              </a:rPr>
              <a:t>Finding the right moment often means scrubbing through the clip more than once.</a:t>
            </a:r>
          </a:p>
        </p:txBody>
      </p:sp>
      <p:sp>
        <p:nvSpPr>
          <p:cNvPr id="5" name="">
            <a:extLst xmlns:a="http://schemas.openxmlformats.org/drawingml/2006/main">
              <a:ext uri="{FF2B5EF4-FFF2-40B4-BE49-F238E27FC236}">
                <a16:creationId xmlns:a16="http://schemas.microsoft.com/office/drawing/2014/main" id="{1199B9AC-44DD-4D9E-A4F1-F7A0DA948A91}"/>
              </a:ext>
            </a:extLst>
          </p:cNvPr>
          <p:cNvSpPr>
            <a:spLocks xmlns:a="http://schemas.openxmlformats.org/drawingml/2006/main" noGrp="1"/>
          </p:cNvSpPr>
          <p:nvPr/>
        </p:nvSpPr>
        <p:spPr>
          <a:xfrm xmlns:a="http://schemas.openxmlformats.org/drawingml/2006/main">
            <a:off x="685800" y="3562350"/>
            <a:ext cx="4333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Small, partially hidden people and low contrast make a person harder to follow across time.</a:t>
            </a:r>
          </a:p>
        </p:txBody>
      </p:sp>
      <p:sp>
        <p:nvSpPr>
          <p:cNvPr id="6" name="">
            <a:extLst xmlns:a="http://schemas.openxmlformats.org/drawingml/2006/main">
              <a:ext uri="{FF2B5EF4-FFF2-40B4-BE49-F238E27FC236}">
                <a16:creationId xmlns:a16="http://schemas.microsoft.com/office/drawing/2014/main" id="{944B6EFE-D2E7-489A-A36F-77CC85543F64}"/>
              </a:ext>
            </a:extLst>
          </p:cNvPr>
          <p:cNvSpPr>
            <a:spLocks xmlns:a="http://schemas.openxmlformats.org/drawingml/2006/main" noGrp="1"/>
          </p:cNvSpPr>
          <p:nvPr/>
        </p:nvSpPr>
        <p:spPr>
          <a:xfrm xmlns:a="http://schemas.openxmlformats.org/drawingml/2006/main">
            <a:off x="685800" y="476250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Problem statement</a:t>
            </a:r>
          </a:p>
        </p:txBody>
      </p:sp>
      <p:sp>
        <p:nvSpPr>
          <p:cNvPr id="7" name="">
            <a:extLst xmlns:a="http://schemas.openxmlformats.org/drawingml/2006/main">
              <a:ext uri="{FF2B5EF4-FFF2-40B4-BE49-F238E27FC236}">
                <a16:creationId xmlns:a16="http://schemas.microsoft.com/office/drawing/2014/main" id="{B16CC487-E50F-4906-8C26-6175E962876C}"/>
              </a:ext>
            </a:extLst>
          </p:cNvPr>
          <p:cNvSpPr>
            <a:spLocks xmlns:a="http://schemas.openxmlformats.org/drawingml/2006/main" noGrp="1"/>
          </p:cNvSpPr>
          <p:nvPr/>
        </p:nvSpPr>
        <p:spPr>
          <a:xfrm xmlns:a="http://schemas.openxmlformats.org/drawingml/2006/main">
            <a:off x="685800" y="5095875"/>
            <a:ext cx="4429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213"/>
          </a:bodyPr>
          <a:lstStyle xmlns:a="http://schemas.openxmlformats.org/drawingml/2006/main"/>
          <a:p xmlns:a="http://schemas.openxmlformats.org/drawingml/2006/main">
            <a:pPr algn="l">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Can a Video-LLM find when a person is visible and give a reviewer evidence to check?</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cbe5b52b42644ae"/>
          <a:stretch xmlns:a="http://schemas.openxmlformats.org/drawingml/2006/main"/>
        </p:blipFill>
        <p:spPr>
          <a:xfrm xmlns:a="http://schemas.openxmlformats.org/drawingml/2006/main">
            <a:off x="5524500" y="2495605"/>
            <a:ext cx="5905500" cy="225731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70AA91C-CB81-46B9-B85C-490538ADF44A}"/>
              </a:ext>
            </a:extLst>
          </p:cNvPr>
          <p:cNvSpPr>
            <a:spLocks xmlns:a="http://schemas.openxmlformats.org/drawingml/2006/main" noGrp="1"/>
          </p:cNvSpPr>
          <p:nvPr/>
        </p:nvSpPr>
        <p:spPr>
          <a:xfrm xmlns:a="http://schemas.openxmlformats.org/drawingml/2006/main">
            <a:off x="5657850" y="546735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28"/>
          </a:bodyPr>
          <a:lstStyle xmlns:a="http://schemas.openxmlformats.org/drawingml/2006/main"/>
          <a:p xmlns:a="http://schemas.openxmlformats.org/drawingml/2006/main">
            <a:pPr algn="l">
              <a:defRPr sz="1200" b="0">
                <a:solidFill>
                  <a:srgbClr val="546774"/>
                </a:solidFill>
                <a:latin typeface="Helvetica Neue"/>
                <a:ea typeface="Helvetica Neue"/>
                <a:cs typeface="Helvetica Neue"/>
              </a:defRPr>
            </a:pPr>
            <a:r>
              <a:rPr sz="1200" b="0">
                <a:solidFill>
                  <a:srgbClr val="546774"/>
                </a:solidFill>
                <a:latin typeface="Helvetica Neue"/>
                <a:ea typeface="Helvetica Neue"/>
                <a:cs typeface="Helvetica Neue"/>
              </a:rPr>
              <a:t>Thermal person segmentation example from the previous computer vision assignment</a:t>
            </a:r>
          </a:p>
        </p:txBody>
      </p:sp>
      <p:sp>
        <p:nvSpPr>
          <p:cNvPr id="10" name="">
            <a:extLst xmlns:a="http://schemas.openxmlformats.org/drawingml/2006/main">
              <a:ext uri="{FF2B5EF4-FFF2-40B4-BE49-F238E27FC236}">
                <a16:creationId xmlns:a16="http://schemas.microsoft.com/office/drawing/2014/main" id="{3EABBA6F-538E-4A27-91C6-01F2D069F07E}"/>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1" name="">
            <a:extLst xmlns:a="http://schemas.openxmlformats.org/drawingml/2006/main">
              <a:ext uri="{FF2B5EF4-FFF2-40B4-BE49-F238E27FC236}">
                <a16:creationId xmlns:a16="http://schemas.microsoft.com/office/drawing/2014/main" id="{40CC4B3E-389D-4E80-9FC0-0FC99CC4AB20}"/>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2" name="">
            <a:extLst xmlns:a="http://schemas.openxmlformats.org/drawingml/2006/main">
              <a:ext uri="{FF2B5EF4-FFF2-40B4-BE49-F238E27FC236}">
                <a16:creationId xmlns:a16="http://schemas.microsoft.com/office/drawing/2014/main" id="{FDE9112D-279A-4433-9716-728814044CFA}"/>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1 / 3</a:t>
            </a:r>
          </a:p>
        </p:txBody>
      </p:sp>
    </p:spTree>
    <p:extLst>
      <p:ext uri="{BB962C8B-B14F-4D97-AF65-F5344CB8AC3E}">
        <p14:creationId xmlns:p14="http://schemas.microsoft.com/office/powerpoint/2010/main" val="13697427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A42F9DF-7959-41FD-8302-F59375ED0062}"/>
              </a:ext>
            </a:extLst>
          </p:cNvPr>
          <p:cNvSpPr>
            <a:spLocks xmlns:a="http://schemas.openxmlformats.org/drawingml/2006/main" noGrp="1"/>
          </p:cNvSpPr>
          <p:nvPr/>
        </p:nvSpPr>
        <p:spPr>
          <a:xfrm xmlns:a="http://schemas.openxmlformats.org/drawingml/2006/main">
            <a:off x="647700" y="4000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A natural-language query finds the moment</a:t>
            </a:r>
          </a:p>
        </p:txBody>
      </p:sp>
      <p:sp>
        <p:nvSpPr>
          <p:cNvPr id="2" name="">
            <a:extLst xmlns:a="http://schemas.openxmlformats.org/drawingml/2006/main">
              <a:ext uri="{FF2B5EF4-FFF2-40B4-BE49-F238E27FC236}">
                <a16:creationId xmlns:a16="http://schemas.microsoft.com/office/drawing/2014/main" id="{D8D0A375-AFFE-45EF-BAE4-8FB650213F87}"/>
              </a:ext>
            </a:extLst>
          </p:cNvPr>
          <p:cNvSpPr>
            <a:spLocks xmlns:a="http://schemas.openxmlformats.org/drawingml/2006/main" noGrp="1"/>
          </p:cNvSpPr>
          <p:nvPr/>
        </p:nvSpPr>
        <p:spPr>
          <a:xfrm xmlns:a="http://schemas.openxmlformats.org/drawingml/2006/main">
            <a:off x="666750" y="1057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774"/>
                </a:solidFill>
                <a:latin typeface="Helvetica Neue"/>
                <a:ea typeface="Helvetica Neue"/>
                <a:cs typeface="Helvetica Neue"/>
              </a:defRPr>
            </a:pPr>
            <a:r>
              <a:rPr sz="1575" b="0">
                <a:solidFill>
                  <a:srgbClr val="546774"/>
                </a:solidFill>
                <a:latin typeface="Helvetica Neue"/>
                <a:ea typeface="Helvetica Neue"/>
                <a:cs typeface="Helvetica Neue"/>
              </a:rPr>
              <a:t>Video input  |  Time-grounded response  |  Human review</a:t>
            </a:r>
          </a:p>
        </p:txBody>
      </p:sp>
      <p:sp>
        <p:nvSpPr>
          <p:cNvPr id="3" name="">
            <a:extLst xmlns:a="http://schemas.openxmlformats.org/drawingml/2006/main">
              <a:ext uri="{FF2B5EF4-FFF2-40B4-BE49-F238E27FC236}">
                <a16:creationId xmlns:a16="http://schemas.microsoft.com/office/drawing/2014/main" id="{EC0DA9B0-D282-4CCF-9A06-B7FA0EF64A3F}"/>
              </a:ext>
            </a:extLst>
          </p:cNvPr>
          <p:cNvSpPr>
            <a:spLocks xmlns:a="http://schemas.openxmlformats.org/drawingml/2006/main" noGrp="1"/>
          </p:cNvSpPr>
          <p:nvPr/>
        </p:nvSpPr>
        <p:spPr>
          <a:xfrm xmlns:a="http://schemas.openxmlformats.org/drawingml/2006/main">
            <a:off x="80010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85BF7489-8F2A-405F-AE59-57617B17C9AC}"/>
              </a:ext>
            </a:extLst>
          </p:cNvPr>
          <p:cNvSpPr>
            <a:spLocks xmlns:a="http://schemas.openxmlformats.org/drawingml/2006/main" noGrp="1"/>
          </p:cNvSpPr>
          <p:nvPr/>
        </p:nvSpPr>
        <p:spPr>
          <a:xfrm xmlns:a="http://schemas.openxmlformats.org/drawingml/2006/main">
            <a:off x="80010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Video + query</a:t>
            </a:r>
          </a:p>
        </p:txBody>
      </p:sp>
      <p:sp>
        <p:nvSpPr>
          <p:cNvPr id="5" name="">
            <a:extLst xmlns:a="http://schemas.openxmlformats.org/drawingml/2006/main">
              <a:ext uri="{FF2B5EF4-FFF2-40B4-BE49-F238E27FC236}">
                <a16:creationId xmlns:a16="http://schemas.microsoft.com/office/drawing/2014/main" id="{21644B8F-EE34-4FC6-94A3-1F24F82ED9C9}"/>
              </a:ext>
            </a:extLst>
          </p:cNvPr>
          <p:cNvSpPr>
            <a:spLocks xmlns:a="http://schemas.openxmlformats.org/drawingml/2006/main" noGrp="1"/>
          </p:cNvSpPr>
          <p:nvPr/>
        </p:nvSpPr>
        <p:spPr>
          <a:xfrm xmlns:a="http://schemas.openxmlformats.org/drawingml/2006/main">
            <a:off x="80010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“When is the person clearly visible?”</a:t>
            </a:r>
          </a:p>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app accepts a short video.</a:t>
            </a:r>
          </a:p>
        </p:txBody>
      </p:sp>
      <p:sp>
        <p:nvSpPr>
          <p:cNvPr id="6" name="">
            <a:extLst xmlns:a="http://schemas.openxmlformats.org/drawingml/2006/main">
              <a:ext uri="{FF2B5EF4-FFF2-40B4-BE49-F238E27FC236}">
                <a16:creationId xmlns:a16="http://schemas.microsoft.com/office/drawing/2014/main" id="{A1AD77D5-483E-423D-92F0-CCE7D9C2F732}"/>
              </a:ext>
            </a:extLst>
          </p:cNvPr>
          <p:cNvSpPr>
            <a:spLocks xmlns:a="http://schemas.openxmlformats.org/drawingml/2006/main" noGrp="1"/>
          </p:cNvSpPr>
          <p:nvPr/>
        </p:nvSpPr>
        <p:spPr>
          <a:xfrm xmlns:a="http://schemas.openxmlformats.org/drawingml/2006/main">
            <a:off x="455295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E14F58D3-7049-43B1-AB3A-CFFC8EC68B77}"/>
              </a:ext>
            </a:extLst>
          </p:cNvPr>
          <p:cNvSpPr>
            <a:spLocks xmlns:a="http://schemas.openxmlformats.org/drawingml/2006/main" noGrp="1"/>
          </p:cNvSpPr>
          <p:nvPr/>
        </p:nvSpPr>
        <p:spPr>
          <a:xfrm xmlns:a="http://schemas.openxmlformats.org/drawingml/2006/main">
            <a:off x="455295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Gemini 3.8 Flash</a:t>
            </a:r>
          </a:p>
        </p:txBody>
      </p:sp>
      <p:sp>
        <p:nvSpPr>
          <p:cNvPr id="8" name="">
            <a:extLst xmlns:a="http://schemas.openxmlformats.org/drawingml/2006/main">
              <a:ext uri="{FF2B5EF4-FFF2-40B4-BE49-F238E27FC236}">
                <a16:creationId xmlns:a16="http://schemas.microsoft.com/office/drawing/2014/main" id="{9437EDC0-60D2-4CC6-A8E9-10CF69A03D9E}"/>
              </a:ext>
            </a:extLst>
          </p:cNvPr>
          <p:cNvSpPr>
            <a:spLocks xmlns:a="http://schemas.openxmlformats.org/drawingml/2006/main" noGrp="1"/>
          </p:cNvSpPr>
          <p:nvPr/>
        </p:nvSpPr>
        <p:spPr>
          <a:xfrm xmlns:a="http://schemas.openxmlformats.org/drawingml/2006/main">
            <a:off x="455295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model reads the video and returns a time range with a brief description.</a:t>
            </a:r>
          </a:p>
        </p:txBody>
      </p:sp>
      <p:sp>
        <p:nvSpPr>
          <p:cNvPr id="9" name="">
            <a:extLst xmlns:a="http://schemas.openxmlformats.org/drawingml/2006/main">
              <a:ext uri="{FF2B5EF4-FFF2-40B4-BE49-F238E27FC236}">
                <a16:creationId xmlns:a16="http://schemas.microsoft.com/office/drawing/2014/main" id="{6373B2C9-E2B4-4C92-AD32-5FE4FCE06E0C}"/>
              </a:ext>
            </a:extLst>
          </p:cNvPr>
          <p:cNvSpPr>
            <a:spLocks xmlns:a="http://schemas.openxmlformats.org/drawingml/2006/main" noGrp="1"/>
          </p:cNvSpPr>
          <p:nvPr/>
        </p:nvSpPr>
        <p:spPr>
          <a:xfrm xmlns:a="http://schemas.openxmlformats.org/drawingml/2006/main">
            <a:off x="830580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10F4A86F-C56C-48F7-9D7C-003A5BB00C24}"/>
              </a:ext>
            </a:extLst>
          </p:cNvPr>
          <p:cNvSpPr>
            <a:spLocks xmlns:a="http://schemas.openxmlformats.org/drawingml/2006/main" noGrp="1"/>
          </p:cNvSpPr>
          <p:nvPr/>
        </p:nvSpPr>
        <p:spPr>
          <a:xfrm xmlns:a="http://schemas.openxmlformats.org/drawingml/2006/main">
            <a:off x="830580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Timestamp + evidence</a:t>
            </a:r>
          </a:p>
        </p:txBody>
      </p:sp>
      <p:sp>
        <p:nvSpPr>
          <p:cNvPr id="11" name="">
            <a:extLst xmlns:a="http://schemas.openxmlformats.org/drawingml/2006/main">
              <a:ext uri="{FF2B5EF4-FFF2-40B4-BE49-F238E27FC236}">
                <a16:creationId xmlns:a16="http://schemas.microsoft.com/office/drawing/2014/main" id="{C772B413-E887-48F1-8EE1-A614B2B49AC5}"/>
              </a:ext>
            </a:extLst>
          </p:cNvPr>
          <p:cNvSpPr>
            <a:spLocks xmlns:a="http://schemas.openxmlformats.org/drawingml/2006/main" noGrp="1"/>
          </p:cNvSpPr>
          <p:nvPr/>
        </p:nvSpPr>
        <p:spPr>
          <a:xfrm xmlns:a="http://schemas.openxmlformats.org/drawingml/2006/main">
            <a:off x="830580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Replay the suggested moment and check the answer against the video.</a:t>
            </a:r>
          </a:p>
        </p:txBody>
      </p:sp>
      <p:sp>
        <p:nvSpPr>
          <p:cNvPr id="12" name="">
            <a:extLst xmlns:a="http://schemas.openxmlformats.org/drawingml/2006/main">
              <a:ext uri="{FF2B5EF4-FFF2-40B4-BE49-F238E27FC236}">
                <a16:creationId xmlns:a16="http://schemas.microsoft.com/office/drawing/2014/main" id="{BED836DE-330E-48DB-BF5B-7D1C5AF5F4D7}"/>
              </a:ext>
            </a:extLst>
          </p:cNvPr>
          <p:cNvSpPr>
            <a:spLocks xmlns:a="http://schemas.openxmlformats.org/drawingml/2006/main" noGrp="1"/>
          </p:cNvSpPr>
          <p:nvPr/>
        </p:nvSpPr>
        <p:spPr>
          <a:xfrm xmlns:a="http://schemas.openxmlformats.org/drawingml/2006/main">
            <a:off x="3638550" y="2447925"/>
            <a:ext cx="628650" cy="0"/>
          </a:xfrm>
          <a:prstGeom xmlns:a="http://schemas.openxmlformats.org/drawingml/2006/main" prst="line">
            <a:avLst/>
          </a:prstGeom>
          <a:noFill xmlns:a="http://schemas.openxmlformats.org/drawingml/2006/main"/>
          <a:ln xmlns:a="http://schemas.openxmlformats.org/drawingml/2006/main" w="28575">
            <a:solidFill>
              <a:srgbClr val="D88942"/>
            </a:solidFill>
          </a:ln>
        </p:spPr>
      </p:sp>
      <p:sp>
        <p:nvSpPr>
          <p:cNvPr id="13" name="">
            <a:extLst xmlns:a="http://schemas.openxmlformats.org/drawingml/2006/main">
              <a:ext uri="{FF2B5EF4-FFF2-40B4-BE49-F238E27FC236}">
                <a16:creationId xmlns:a16="http://schemas.microsoft.com/office/drawing/2014/main" id="{21434EFB-9349-43BF-975E-C342E6F81637}"/>
              </a:ext>
            </a:extLst>
          </p:cNvPr>
          <p:cNvSpPr>
            <a:spLocks xmlns:a="http://schemas.openxmlformats.org/drawingml/2006/main" noGrp="1"/>
          </p:cNvSpPr>
          <p:nvPr/>
        </p:nvSpPr>
        <p:spPr>
          <a:xfrm xmlns:a="http://schemas.openxmlformats.org/drawingml/2006/main">
            <a:off x="7391400" y="2447925"/>
            <a:ext cx="628650" cy="0"/>
          </a:xfrm>
          <a:prstGeom xmlns:a="http://schemas.openxmlformats.org/drawingml/2006/main" prst="line">
            <a:avLst/>
          </a:prstGeom>
          <a:noFill xmlns:a="http://schemas.openxmlformats.org/drawingml/2006/main"/>
          <a:ln xmlns:a="http://schemas.openxmlformats.org/drawingml/2006/main" w="28575">
            <a:solidFill>
              <a:srgbClr val="D88942"/>
            </a:solidFill>
          </a:ln>
        </p:spPr>
      </p:sp>
      <p:sp>
        <p:nvSpPr>
          <p:cNvPr id="14" name="">
            <a:extLst xmlns:a="http://schemas.openxmlformats.org/drawingml/2006/main">
              <a:ext uri="{FF2B5EF4-FFF2-40B4-BE49-F238E27FC236}">
                <a16:creationId xmlns:a16="http://schemas.microsoft.com/office/drawing/2014/main" id="{E177EA74-9F9E-4FAB-B22C-971566229D25}"/>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5" name="">
            <a:extLst xmlns:a="http://schemas.openxmlformats.org/drawingml/2006/main">
              <a:ext uri="{FF2B5EF4-FFF2-40B4-BE49-F238E27FC236}">
                <a16:creationId xmlns:a16="http://schemas.microsoft.com/office/drawing/2014/main" id="{A57D1376-91F4-40D9-9CEA-09F500F9AA34}"/>
              </a:ext>
            </a:extLst>
          </p:cNvPr>
          <p:cNvSpPr>
            <a:spLocks xmlns:a="http://schemas.openxmlformats.org/drawingml/2006/main" noGrp="1"/>
          </p:cNvSpPr>
          <p:nvPr/>
        </p:nvSpPr>
        <p:spPr>
          <a:xfrm xmlns:a="http://schemas.openxmlformats.org/drawingml/2006/main">
            <a:off x="781050" y="5143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Keynote 6 connection</a:t>
            </a:r>
          </a:p>
        </p:txBody>
      </p:sp>
      <p:sp>
        <p:nvSpPr>
          <p:cNvPr id="16" name="">
            <a:extLst xmlns:a="http://schemas.openxmlformats.org/drawingml/2006/main">
              <a:ext uri="{FF2B5EF4-FFF2-40B4-BE49-F238E27FC236}">
                <a16:creationId xmlns:a16="http://schemas.microsoft.com/office/drawing/2014/main" id="{51ED55F0-4627-4F9C-AA73-F4317A80769D}"/>
              </a:ext>
            </a:extLst>
          </p:cNvPr>
          <p:cNvSpPr>
            <a:spLocks xmlns:a="http://schemas.openxmlformats.org/drawingml/2006/main" noGrp="1"/>
          </p:cNvSpPr>
          <p:nvPr/>
        </p:nvSpPr>
        <p:spPr>
          <a:xfrm xmlns:a="http://schemas.openxmlformats.org/drawingml/2006/main">
            <a:off x="781050" y="5505450"/>
            <a:ext cx="1042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Fahad Khan’s “Towards Detailed Video Understanding in Generative AI Era” explores text-conditioned spatiotemporal grounding. This prototype applies that idea to finding a person’s time span in a clip.</a:t>
            </a:r>
          </a:p>
        </p:txBody>
      </p:sp>
      <p:sp>
        <p:nvSpPr>
          <p:cNvPr id="17" name="">
            <a:extLst xmlns:a="http://schemas.openxmlformats.org/drawingml/2006/main">
              <a:ext uri="{FF2B5EF4-FFF2-40B4-BE49-F238E27FC236}">
                <a16:creationId xmlns:a16="http://schemas.microsoft.com/office/drawing/2014/main" id="{8DFB771B-FBE8-4519-8E01-B1444EBDAF42}"/>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8" name="">
            <a:extLst xmlns:a="http://schemas.openxmlformats.org/drawingml/2006/main">
              <a:ext uri="{FF2B5EF4-FFF2-40B4-BE49-F238E27FC236}">
                <a16:creationId xmlns:a16="http://schemas.microsoft.com/office/drawing/2014/main" id="{12695C71-8082-459A-8830-785AC2D0213E}"/>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9" name="">
            <a:extLst xmlns:a="http://schemas.openxmlformats.org/drawingml/2006/main">
              <a:ext uri="{FF2B5EF4-FFF2-40B4-BE49-F238E27FC236}">
                <a16:creationId xmlns:a16="http://schemas.microsoft.com/office/drawing/2014/main" id="{E5F93C0D-7EBB-4A90-BB15-EDDADBADCEE0}"/>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2 / 3</a:t>
            </a:r>
          </a:p>
        </p:txBody>
      </p:sp>
    </p:spTree>
    <p:extLst>
      <p:ext uri="{BB962C8B-B14F-4D97-AF65-F5344CB8AC3E}">
        <p14:creationId xmlns:p14="http://schemas.microsoft.com/office/powerpoint/2010/main" val="14420421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0131DF2-999E-4BB5-B21E-2508E0E87036}"/>
              </a:ext>
            </a:extLst>
          </p:cNvPr>
          <p:cNvSpPr>
            <a:spLocks xmlns:a="http://schemas.openxmlformats.org/drawingml/2006/main" noGrp="1"/>
          </p:cNvSpPr>
          <p:nvPr/>
        </p:nvSpPr>
        <p:spPr>
          <a:xfrm xmlns:a="http://schemas.openxmlformats.org/drawingml/2006/main">
            <a:off x="647700" y="4000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Prototype and feasibility assessment</a:t>
            </a:r>
          </a:p>
        </p:txBody>
      </p:sp>
      <p:sp>
        <p:nvSpPr>
          <p:cNvPr id="2" name="">
            <a:extLst xmlns:a="http://schemas.openxmlformats.org/drawingml/2006/main">
              <a:ext uri="{FF2B5EF4-FFF2-40B4-BE49-F238E27FC236}">
                <a16:creationId xmlns:a16="http://schemas.microsoft.com/office/drawing/2014/main" id="{22285C8B-A0D0-430B-A853-408D73D50AC6}"/>
              </a:ext>
            </a:extLst>
          </p:cNvPr>
          <p:cNvSpPr>
            <a:spLocks xmlns:a="http://schemas.openxmlformats.org/drawingml/2006/main" noGrp="1"/>
          </p:cNvSpPr>
          <p:nvPr/>
        </p:nvSpPr>
        <p:spPr>
          <a:xfrm xmlns:a="http://schemas.openxmlformats.org/drawingml/2006/main">
            <a:off x="666750" y="1057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774"/>
                </a:solidFill>
                <a:latin typeface="Helvetica Neue"/>
                <a:ea typeface="Helvetica Neue"/>
                <a:cs typeface="Helvetica Neue"/>
              </a:defRPr>
            </a:pPr>
            <a:r>
              <a:rPr sz="1575" b="0">
                <a:solidFill>
                  <a:srgbClr val="546774"/>
                </a:solidFill>
                <a:latin typeface="Helvetica Neue"/>
                <a:ea typeface="Helvetica Neue"/>
                <a:cs typeface="Helvetica Neue"/>
              </a:rPr>
              <a:t>A deployed Streamlit app connects video input to Gemini</a:t>
            </a:r>
          </a:p>
        </p:txBody>
      </p:sp>
      <p:sp>
        <p:nvSpPr>
          <p:cNvPr id="3" name="">
            <a:extLst xmlns:a="http://schemas.openxmlformats.org/drawingml/2006/main">
              <a:ext uri="{FF2B5EF4-FFF2-40B4-BE49-F238E27FC236}">
                <a16:creationId xmlns:a16="http://schemas.microsoft.com/office/drawing/2014/main" id="{9A494318-71AE-45F8-8C58-52D7B687F86C}"/>
              </a:ext>
            </a:extLst>
          </p:cNvPr>
          <p:cNvSpPr>
            <a:spLocks xmlns:a="http://schemas.openxmlformats.org/drawingml/2006/main" noGrp="1"/>
          </p:cNvSpPr>
          <p:nvPr/>
        </p:nvSpPr>
        <p:spPr>
          <a:xfrm xmlns:a="http://schemas.openxmlformats.org/drawingml/2006/main">
            <a:off x="723900" y="18669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38A8A"/>
                </a:solidFill>
                <a:latin typeface="Helvetica Neue"/>
                <a:ea typeface="Helvetica Neue"/>
                <a:cs typeface="Helvetica Neue"/>
              </a:defRPr>
            </a:pPr>
            <a:r>
              <a:rPr sz="1725" b="1">
                <a:solidFill>
                  <a:srgbClr val="138A8A"/>
                </a:solidFill>
                <a:latin typeface="Helvetica Neue"/>
                <a:ea typeface="Helvetica Neue"/>
                <a:cs typeface="Helvetica Neue"/>
              </a:rPr>
              <a:t>Prototype</a:t>
            </a:r>
          </a:p>
        </p:txBody>
      </p:sp>
      <p:sp>
        <p:nvSpPr>
          <p:cNvPr id="4" name="">
            <a:extLst xmlns:a="http://schemas.openxmlformats.org/drawingml/2006/main">
              <a:ext uri="{FF2B5EF4-FFF2-40B4-BE49-F238E27FC236}">
                <a16:creationId xmlns:a16="http://schemas.microsoft.com/office/drawing/2014/main" id="{DDF956CD-B93D-4588-AF80-651748B2CDA1}"/>
              </a:ext>
            </a:extLst>
          </p:cNvPr>
          <p:cNvSpPr>
            <a:spLocks xmlns:a="http://schemas.openxmlformats.org/drawingml/2006/main" noGrp="1"/>
          </p:cNvSpPr>
          <p:nvPr/>
        </p:nvSpPr>
        <p:spPr>
          <a:xfrm xmlns:a="http://schemas.openxmlformats.org/drawingml/2006/main">
            <a:off x="723900" y="23050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03442"/>
                </a:solidFill>
                <a:latin typeface="Helvetica Neue"/>
                <a:ea typeface="Helvetica Neue"/>
                <a:cs typeface="Helvetica Neue"/>
              </a:defRPr>
            </a:pPr>
            <a:r>
              <a:rPr sz="1650" b="0">
                <a:solidFill>
                  <a:srgbClr val="203442"/>
                </a:solidFill>
                <a:latin typeface="Helvetica Neue"/>
                <a:ea typeface="Helvetica Neue"/>
                <a:cs typeface="Helvetica Neue"/>
              </a:rPr>
              <a:t>The web app accepts a video and a natural-language question. Gemini returns an approximate time range and a short description of the visible evidence.</a:t>
            </a:r>
          </a:p>
        </p:txBody>
      </p:sp>
      <p:sp>
        <p:nvSpPr>
          <p:cNvPr id="5" name="">
            <a:extLst xmlns:a="http://schemas.openxmlformats.org/drawingml/2006/main">
              <a:ext uri="{FF2B5EF4-FFF2-40B4-BE49-F238E27FC236}">
                <a16:creationId xmlns:a16="http://schemas.microsoft.com/office/drawing/2014/main" id="{CD1A3789-62DC-4FA8-89DC-A31454FA2405}"/>
              </a:ext>
            </a:extLst>
          </p:cNvPr>
          <p:cNvSpPr>
            <a:spLocks xmlns:a="http://schemas.openxmlformats.org/drawingml/2006/main" noGrp="1"/>
          </p:cNvSpPr>
          <p:nvPr/>
        </p:nvSpPr>
        <p:spPr>
          <a:xfrm xmlns:a="http://schemas.openxmlformats.org/drawingml/2006/main">
            <a:off x="723900" y="38862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38A8A"/>
                </a:solidFill>
                <a:latin typeface="Helvetica Neue"/>
                <a:ea typeface="Helvetica Neue"/>
                <a:cs typeface="Helvetica Neue"/>
              </a:defRPr>
            </a:pPr>
            <a:r>
              <a:rPr sz="1725" b="1">
                <a:solidFill>
                  <a:srgbClr val="138A8A"/>
                </a:solidFill>
                <a:latin typeface="Helvetica Neue"/>
                <a:ea typeface="Helvetica Neue"/>
                <a:cs typeface="Helvetica Neue"/>
              </a:rPr>
              <a:t>Feasibility check</a:t>
            </a:r>
          </a:p>
        </p:txBody>
      </p:sp>
      <p:sp>
        <p:nvSpPr>
          <p:cNvPr id="6" name="">
            <a:extLst xmlns:a="http://schemas.openxmlformats.org/drawingml/2006/main">
              <a:ext uri="{FF2B5EF4-FFF2-40B4-BE49-F238E27FC236}">
                <a16:creationId xmlns:a16="http://schemas.microsoft.com/office/drawing/2014/main" id="{1F69D5A4-370E-4091-8E2F-E0542784D324}"/>
              </a:ext>
            </a:extLst>
          </p:cNvPr>
          <p:cNvSpPr>
            <a:spLocks xmlns:a="http://schemas.openxmlformats.org/drawingml/2006/main" noGrp="1"/>
          </p:cNvSpPr>
          <p:nvPr/>
        </p:nvSpPr>
        <p:spPr>
          <a:xfrm xmlns:a="http://schemas.openxmlformats.org/drawingml/2006/main">
            <a:off x="723900" y="432435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Compare Gemini’s start and end times with a reference interval marked by watching the same clip. Record the timing difference and whether the response identifies the correct person and event.</a:t>
            </a:r>
          </a:p>
        </p:txBody>
      </p:sp>
      <p:sp>
        <p:nvSpPr>
          <p:cNvPr id="7" name="">
            <a:extLst xmlns:a="http://schemas.openxmlformats.org/drawingml/2006/main">
              <a:ext uri="{FF2B5EF4-FFF2-40B4-BE49-F238E27FC236}">
                <a16:creationId xmlns:a16="http://schemas.microsoft.com/office/drawing/2014/main" id="{DD5DD2C9-6363-4959-9D6F-61EB3F32DEAB}"/>
              </a:ext>
            </a:extLst>
          </p:cNvPr>
          <p:cNvSpPr>
            <a:spLocks xmlns:a="http://schemas.openxmlformats.org/drawingml/2006/main" noGrp="1"/>
          </p:cNvSpPr>
          <p:nvPr/>
        </p:nvSpPr>
        <p:spPr>
          <a:xfrm xmlns:a="http://schemas.openxmlformats.org/drawingml/2006/main">
            <a:off x="5962650" y="1828800"/>
            <a:ext cx="0" cy="407670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8" name="">
            <a:extLst xmlns:a="http://schemas.openxmlformats.org/drawingml/2006/main">
              <a:ext uri="{FF2B5EF4-FFF2-40B4-BE49-F238E27FC236}">
                <a16:creationId xmlns:a16="http://schemas.microsoft.com/office/drawing/2014/main" id="{DA18BF14-C62A-4668-96D2-84DA125A5ACC}"/>
              </a:ext>
            </a:extLst>
          </p:cNvPr>
          <p:cNvSpPr>
            <a:spLocks xmlns:a="http://schemas.openxmlformats.org/drawingml/2006/main" noGrp="1"/>
          </p:cNvSpPr>
          <p:nvPr/>
        </p:nvSpPr>
        <p:spPr>
          <a:xfrm xmlns:a="http://schemas.openxmlformats.org/drawingml/2006/main">
            <a:off x="6496050" y="1866900"/>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Live demonstration</a:t>
            </a:r>
          </a:p>
        </p:txBody>
      </p:sp>
      <p:sp>
        <p:nvSpPr>
          <p:cNvPr id="9" name="">
            <a:extLst xmlns:a="http://schemas.openxmlformats.org/drawingml/2006/main">
              <a:ext uri="{FF2B5EF4-FFF2-40B4-BE49-F238E27FC236}">
                <a16:creationId xmlns:a16="http://schemas.microsoft.com/office/drawing/2014/main" id="{0C78D55E-153C-4E50-8D55-54B093C7CF86}"/>
              </a:ext>
            </a:extLst>
          </p:cNvPr>
          <p:cNvSpPr>
            <a:spLocks xmlns:a="http://schemas.openxmlformats.org/drawingml/2006/main" noGrp="1"/>
          </p:cNvSpPr>
          <p:nvPr/>
        </p:nvSpPr>
        <p:spPr>
          <a:xfrm xmlns:a="http://schemas.openxmlformats.org/drawingml/2006/main">
            <a:off x="6496050" y="23431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Upload a short clip, enter the query, and review Gemini’s timestamped response in the browser.</a:t>
            </a:r>
          </a:p>
        </p:txBody>
      </p:sp>
      <p:sp>
        <p:nvSpPr>
          <p:cNvPr id="10" name="">
            <a:extLst xmlns:a="http://schemas.openxmlformats.org/drawingml/2006/main">
              <a:ext uri="{FF2B5EF4-FFF2-40B4-BE49-F238E27FC236}">
                <a16:creationId xmlns:a16="http://schemas.microsoft.com/office/drawing/2014/main" id="{2969A0C6-6CD3-4759-A16D-A79996B49D0D}"/>
              </a:ext>
            </a:extLst>
          </p:cNvPr>
          <p:cNvSpPr>
            <a:spLocks xmlns:a="http://schemas.openxmlformats.org/drawingml/2006/main" noGrp="1"/>
          </p:cNvSpPr>
          <p:nvPr/>
        </p:nvSpPr>
        <p:spPr>
          <a:xfrm xmlns:a="http://schemas.openxmlformats.org/drawingml/2006/main">
            <a:off x="6496050" y="3695700"/>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D88942"/>
                </a:solidFill>
                <a:latin typeface="Helvetica Neue"/>
                <a:ea typeface="Helvetica Neue"/>
                <a:cs typeface="Helvetica Neue"/>
              </a:defRPr>
            </a:pPr>
            <a:r>
              <a:rPr sz="1725" b="1">
                <a:solidFill>
                  <a:srgbClr val="D88942"/>
                </a:solidFill>
                <a:latin typeface="Helvetica Neue"/>
                <a:ea typeface="Helvetica Neue"/>
                <a:cs typeface="Helvetica Neue"/>
              </a:rPr>
              <a:t>Evaluation measure</a:t>
            </a:r>
          </a:p>
        </p:txBody>
      </p:sp>
      <p:sp>
        <p:nvSpPr>
          <p:cNvPr id="11" name="">
            <a:extLst xmlns:a="http://schemas.openxmlformats.org/drawingml/2006/main">
              <a:ext uri="{FF2B5EF4-FFF2-40B4-BE49-F238E27FC236}">
                <a16:creationId xmlns:a16="http://schemas.microsoft.com/office/drawing/2014/main" id="{9A7D4F79-6262-42A7-B55A-F674919EC512}"/>
              </a:ext>
            </a:extLst>
          </p:cNvPr>
          <p:cNvSpPr>
            <a:spLocks xmlns:a="http://schemas.openxmlformats.org/drawingml/2006/main" noGrp="1"/>
          </p:cNvSpPr>
          <p:nvPr/>
        </p:nvSpPr>
        <p:spPr>
          <a:xfrm xmlns:a="http://schemas.openxmlformats.org/drawingml/2006/main">
            <a:off x="6496050" y="41719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Timing difference = model start or end time minus the manually marked time. A reviewer also checks whether the person and described action match the clip.</a:t>
            </a:r>
          </a:p>
        </p:txBody>
      </p:sp>
      <p:sp>
        <p:nvSpPr>
          <p:cNvPr id="12" name="">
            <a:extLst xmlns:a="http://schemas.openxmlformats.org/drawingml/2006/main">
              <a:ext uri="{FF2B5EF4-FFF2-40B4-BE49-F238E27FC236}">
                <a16:creationId xmlns:a16="http://schemas.microsoft.com/office/drawing/2014/main" id="{44E1444F-3DAC-4C75-93C8-E168CCBE8EE0}"/>
              </a:ext>
            </a:extLst>
          </p:cNvPr>
          <p:cNvSpPr>
            <a:spLocks xmlns:a="http://schemas.openxmlformats.org/drawingml/2006/main" noGrp="1"/>
          </p:cNvSpPr>
          <p:nvPr/>
        </p:nvSpPr>
        <p:spPr>
          <a:xfrm xmlns:a="http://schemas.openxmlformats.org/drawingml/2006/main">
            <a:off x="6496050" y="5543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32"/>
          </a:bodyPr>
          <a:lstStyle xmlns:a="http://schemas.openxmlformats.org/drawingml/2006/main"/>
          <a:p xmlns:a="http://schemas.openxmlformats.org/drawingml/2006/main">
            <a:pPr algn="l">
              <a:defRPr sz="1275" b="1">
                <a:solidFill>
                  <a:srgbClr val="546774"/>
                </a:solidFill>
                <a:latin typeface="Helvetica Neue"/>
                <a:ea typeface="Helvetica Neue"/>
                <a:cs typeface="Helvetica Neue"/>
              </a:defRPr>
            </a:pPr>
            <a:r>
              <a:rPr sz="1275" b="1">
                <a:solidFill>
                  <a:srgbClr val="546774"/>
                </a:solidFill>
                <a:latin typeface="Helvetica Neue"/>
                <a:ea typeface="Helvetica Neue"/>
                <a:cs typeface="Helvetica Neue"/>
              </a:rPr>
              <a:t>The live run supplies the observed result for the presentation.</a:t>
            </a:r>
          </a:p>
        </p:txBody>
      </p:sp>
      <p:sp>
        <p:nvSpPr>
          <p:cNvPr id="13" name="">
            <a:extLst xmlns:a="http://schemas.openxmlformats.org/drawingml/2006/main">
              <a:ext uri="{FF2B5EF4-FFF2-40B4-BE49-F238E27FC236}">
                <a16:creationId xmlns:a16="http://schemas.microsoft.com/office/drawing/2014/main" id="{AD605A91-16CF-49C4-A5F9-4CB9B8EAE82D}"/>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4" name="">
            <a:extLst xmlns:a="http://schemas.openxmlformats.org/drawingml/2006/main">
              <a:ext uri="{FF2B5EF4-FFF2-40B4-BE49-F238E27FC236}">
                <a16:creationId xmlns:a16="http://schemas.microsoft.com/office/drawing/2014/main" id="{64593A8A-6B27-4AD8-B4D8-4125D31AC136}"/>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5" name="">
            <a:extLst xmlns:a="http://schemas.openxmlformats.org/drawingml/2006/main">
              <a:ext uri="{FF2B5EF4-FFF2-40B4-BE49-F238E27FC236}">
                <a16:creationId xmlns:a16="http://schemas.microsoft.com/office/drawing/2014/main" id="{BD0CA3DB-F953-481A-8245-BF3F1271F78A}"/>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3 / 3</a:t>
            </a:r>
          </a:p>
        </p:txBody>
      </p:sp>
    </p:spTree>
    <p:extLst>
      <p:ext uri="{BB962C8B-B14F-4D97-AF65-F5344CB8AC3E}">
        <p14:creationId xmlns:p14="http://schemas.microsoft.com/office/powerpoint/2010/main" val="17452855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2026-10-02T19:14:17.7490000Z</dcterms:created>
  <dcterms:modified xsi:type="dcterms:W3CDTF">2026-10-02T19:14:17.7490000Z</dcterms:modified>
</coreProperties>
</file>